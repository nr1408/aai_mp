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b40130da50422d" /><Relationship Type="http://schemas.openxmlformats.org/officeDocument/2006/relationships/extended-properties" Target="/docProps/app.xml" Id="R2ed1a382c9114c3a" /><Relationship Type="http://schemas.openxmlformats.org/officeDocument/2006/relationships/officeDocument" Target="/ppt/presentation.xml" Id="R172e027be7434e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7ee5784b694fe5"/>
  </p:sldMasterIdLst>
  <p:notesMasterIdLst>
    <p:notesMasterId xmlns:r="http://schemas.openxmlformats.org/officeDocument/2006/relationships" r:id="Rce0e22d0f9f74e0c"/>
  </p:notesMasterIdLst>
  <p:sldIdLst>
    <p:sldId xmlns:r="http://schemas.openxmlformats.org/officeDocument/2006/relationships" id="256" r:id="R2a71f5c7173c4eff"/>
    <p:sldId xmlns:r="http://schemas.openxmlformats.org/officeDocument/2006/relationships" id="257" r:id="R0694293219324144"/>
    <p:sldId xmlns:r="http://schemas.openxmlformats.org/officeDocument/2006/relationships" id="258" r:id="R721ba79e85ee4879"/>
    <p:sldId xmlns:r="http://schemas.openxmlformats.org/officeDocument/2006/relationships" id="259" r:id="R24240429c62e47bf"/>
    <p:sldId xmlns:r="http://schemas.openxmlformats.org/officeDocument/2006/relationships" id="260" r:id="Re0ac157b4d824cf7"/>
    <p:sldId xmlns:r="http://schemas.openxmlformats.org/officeDocument/2006/relationships" id="261" r:id="R27a5225fc8e04208"/>
    <p:sldId xmlns:r="http://schemas.openxmlformats.org/officeDocument/2006/relationships" id="262" r:id="R7ce95c43283647b1"/>
    <p:sldId xmlns:r="http://schemas.openxmlformats.org/officeDocument/2006/relationships" id="263" r:id="Rbf5af6df2a6e4a3d"/>
    <p:sldId xmlns:r="http://schemas.openxmlformats.org/officeDocument/2006/relationships" id="264" r:id="R3d8924f494b14fe5"/>
    <p:sldId xmlns:r="http://schemas.openxmlformats.org/officeDocument/2006/relationships" id="265" r:id="R67369c58b3ec43a6"/>
    <p:sldId xmlns:r="http://schemas.openxmlformats.org/officeDocument/2006/relationships" id="266" r:id="Rb4ce6c40a8c34d05"/>
    <p:sldId xmlns:r="http://schemas.openxmlformats.org/officeDocument/2006/relationships" id="267" r:id="R473dd4da02344178"/>
    <p:sldId xmlns:r="http://schemas.openxmlformats.org/officeDocument/2006/relationships" id="268" r:id="Rce486b59cad4410d"/>
    <p:sldId xmlns:r="http://schemas.openxmlformats.org/officeDocument/2006/relationships" id="269" r:id="R7ddb7717d9f843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f42acf0dc94b76" /><Relationship Type="http://schemas.openxmlformats.org/officeDocument/2006/relationships/slideMaster" Target="/ppt/slideMasters/slideMaster1.xml" Id="R987ee5784b694fe5" /><Relationship Type="http://schemas.openxmlformats.org/officeDocument/2006/relationships/notesMaster" Target="/ppt/notesMasters/notesMaster1.xml" Id="Rce0e22d0f9f74e0c" /><Relationship Type="http://schemas.openxmlformats.org/officeDocument/2006/relationships/presProps" Target="/ppt/presProps.xml" Id="Rc6292cdc63a54997" /><Relationship Type="http://schemas.openxmlformats.org/officeDocument/2006/relationships/tableStyles" Target="/ppt/tableStyles.xml" Id="R44378d58d33b4738" /><Relationship Type="http://schemas.openxmlformats.org/officeDocument/2006/relationships/slide" Target="/ppt/slides/slide1.xml" Id="R2a71f5c7173c4eff" /><Relationship Type="http://schemas.openxmlformats.org/officeDocument/2006/relationships/slide" Target="/ppt/slides/slide2.xml" Id="R0694293219324144" /><Relationship Type="http://schemas.openxmlformats.org/officeDocument/2006/relationships/slide" Target="/ppt/slides/slide3.xml" Id="R721ba79e85ee4879" /><Relationship Type="http://schemas.openxmlformats.org/officeDocument/2006/relationships/slide" Target="/ppt/slides/slide4.xml" Id="R24240429c62e47bf" /><Relationship Type="http://schemas.openxmlformats.org/officeDocument/2006/relationships/slide" Target="/ppt/slides/slide5.xml" Id="Re0ac157b4d824cf7" /><Relationship Type="http://schemas.openxmlformats.org/officeDocument/2006/relationships/slide" Target="/ppt/slides/slide6.xml" Id="R27a5225fc8e04208" /><Relationship Type="http://schemas.openxmlformats.org/officeDocument/2006/relationships/slide" Target="/ppt/slides/slide7.xml" Id="R7ce95c43283647b1" /><Relationship Type="http://schemas.openxmlformats.org/officeDocument/2006/relationships/slide" Target="/ppt/slides/slide8.xml" Id="Rbf5af6df2a6e4a3d" /><Relationship Type="http://schemas.openxmlformats.org/officeDocument/2006/relationships/slide" Target="/ppt/slides/slide9.xml" Id="R3d8924f494b14fe5" /><Relationship Type="http://schemas.openxmlformats.org/officeDocument/2006/relationships/slide" Target="/ppt/slides/slide10.xml" Id="R67369c58b3ec43a6" /><Relationship Type="http://schemas.openxmlformats.org/officeDocument/2006/relationships/slide" Target="/ppt/slides/slide11.xml" Id="Rb4ce6c40a8c34d05" /><Relationship Type="http://schemas.openxmlformats.org/officeDocument/2006/relationships/slide" Target="/ppt/slides/slide12.xml" Id="R473dd4da02344178" /><Relationship Type="http://schemas.openxmlformats.org/officeDocument/2006/relationships/slide" Target="/ppt/slides/slide13.xml" Id="Rce486b59cad4410d" /><Relationship Type="http://schemas.openxmlformats.org/officeDocument/2006/relationships/slide" Target="/ppt/slides/slide14.xml" Id="R7ddb7717d9f8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da3e45335a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4dbe56e89e4889" /><Relationship Type="http://schemas.openxmlformats.org/officeDocument/2006/relationships/notesMaster" Target="/ppt/notesMasters/notesMaster1.xml" Id="Rb8de9f1ddb29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ba697132a45e5" /><Relationship Type="http://schemas.openxmlformats.org/officeDocument/2006/relationships/notesMaster" Target="/ppt/notesMasters/notesMaster1.xml" Id="R4bf1e332f2444b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410b1f0f2248d7" /><Relationship Type="http://schemas.openxmlformats.org/officeDocument/2006/relationships/notesMaster" Target="/ppt/notesMasters/notesMaster1.xml" Id="Rf3786f702da24a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a29758c88f4ee0" /><Relationship Type="http://schemas.openxmlformats.org/officeDocument/2006/relationships/notesMaster" Target="/ppt/notesMasters/notesMaster1.xml" Id="R55431c2bc8fc47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fc43decd224dab" /><Relationship Type="http://schemas.openxmlformats.org/officeDocument/2006/relationships/notesMaster" Target="/ppt/notesMasters/notesMaster1.xml" Id="R2cae3d1abcfa4d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f6f6cd069347d7" /><Relationship Type="http://schemas.openxmlformats.org/officeDocument/2006/relationships/notesMaster" Target="/ppt/notesMasters/notesMaster1.xml" Id="R86e341ae7def47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252b9e7dff45fa" /><Relationship Type="http://schemas.openxmlformats.org/officeDocument/2006/relationships/notesMaster" Target="/ppt/notesMasters/notesMaster1.xml" Id="R093b1352eef54b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83f08f0fef446b" /><Relationship Type="http://schemas.openxmlformats.org/officeDocument/2006/relationships/notesMaster" Target="/ppt/notesMasters/notesMaster1.xml" Id="Rbb163ed4bb2e4e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9acadae288450d" /><Relationship Type="http://schemas.openxmlformats.org/officeDocument/2006/relationships/notesMaster" Target="/ppt/notesMasters/notesMaster1.xml" Id="R142d4490b2ad4b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c79f85cb1042e2" /><Relationship Type="http://schemas.openxmlformats.org/officeDocument/2006/relationships/notesMaster" Target="/ppt/notesMasters/notesMaster1.xml" Id="R5d839af3ee5343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b1355fad524a06" /><Relationship Type="http://schemas.openxmlformats.org/officeDocument/2006/relationships/notesMaster" Target="/ppt/notesMasters/notesMaster1.xml" Id="R7b1da8320e234f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e925e3218149e6" /><Relationship Type="http://schemas.openxmlformats.org/officeDocument/2006/relationships/notesMaster" Target="/ppt/notesMasters/notesMaster1.xml" Id="R50966a8df71445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4e63e0c0f54882" /><Relationship Type="http://schemas.openxmlformats.org/officeDocument/2006/relationships/notesMaster" Target="/ppt/notesMasters/notesMaster1.xml" Id="Re04bbe4d646048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5586ab076b4237" /><Relationship Type="http://schemas.openxmlformats.org/officeDocument/2006/relationships/notesMaster" Target="/ppt/notesMasters/notesMaster1.xml" Id="Rcc432911190c47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0 dataset assessment and persisted FreeTwinEV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prioritizes leakage prevention, validation discipline, and traceable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reports/freetwinev_dataset_assessment.md and reports/freetwinev_eda.md.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target and feature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preprocessing_config.json and split_manifest.csv.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feature_manifest.json and reports/freetwinev_target_feature_definition.md.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4, Phase 5, and Phase 6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results/freetwinev/phase6_results.csv and phase6_results_per_run.csv.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7 temporal forecasting report and figures 38 and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phase8_thresholds.json and reports/freetwinev_phase8_thermal_risk.md.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9 cooling recommendation report and validation associations.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reports/freetwinev_phase10_dashboard.md and phase10_dashboard_audit.json.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6-10 limitations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6 final evaluation and final report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82845cbd349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80d110132e4bc5" /><Relationship Type="http://schemas.openxmlformats.org/officeDocument/2006/relationships/slideLayout" Target="/ppt/slideLayouts/slideLayout1.xml" Id="R045cd74fc0b549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cd74fc0b549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bbe12268542e4" /><Relationship Type="http://schemas.openxmlformats.org/officeDocument/2006/relationships/image" Target="/ppt/media/image.png" Id="R1b2b37d6b9ff4dc1" /><Relationship Type="http://schemas.openxmlformats.org/officeDocument/2006/relationships/notesSlide" Target="/ppt/notesSlides/notesSlide1.xml" Id="Rf45706f96f374d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956ad86584116" /><Relationship Type="http://schemas.openxmlformats.org/officeDocument/2006/relationships/notesSlide" Target="/ppt/notesSlides/notesSlide2.xml" Id="R1cceb9568a6048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1484b1b214f6a" /><Relationship Type="http://schemas.openxmlformats.org/officeDocument/2006/relationships/notesSlide" Target="/ppt/notesSlides/notesSlide3.xml" Id="R1756236a931342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2923175e04b8b" /><Relationship Type="http://schemas.openxmlformats.org/officeDocument/2006/relationships/notesSlide" Target="/ppt/notesSlides/notesSlide4.xml" Id="Rcbd2cf79446b4b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24a97ccda4ffd" /><Relationship Type="http://schemas.openxmlformats.org/officeDocument/2006/relationships/notesSlide" Target="/ppt/notesSlides/notesSlide5.xml" Id="R3c40f07188ac49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9fd5756fc4a47" /><Relationship Type="http://schemas.openxmlformats.org/officeDocument/2006/relationships/image" Target="/ppt/media/image2.png" Id="Ree879410695d49a4" /><Relationship Type="http://schemas.openxmlformats.org/officeDocument/2006/relationships/notesSlide" Target="/ppt/notesSlides/notesSlide6.xml" Id="R74a9ccc440d540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0ee6c37b64a9b" /><Relationship Type="http://schemas.openxmlformats.org/officeDocument/2006/relationships/notesSlide" Target="/ppt/notesSlides/notesSlide7.xml" Id="R71eceba1503044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2ae628cff40a8" /><Relationship Type="http://schemas.openxmlformats.org/officeDocument/2006/relationships/image" Target="/ppt/media/image3.png" Id="Rdb434804b12c4f16" /><Relationship Type="http://schemas.openxmlformats.org/officeDocument/2006/relationships/image" Target="/ppt/media/image4.png" Id="Rf0cbc9e9f58f43c2" /><Relationship Type="http://schemas.openxmlformats.org/officeDocument/2006/relationships/notesSlide" Target="/ppt/notesSlides/notesSlide8.xml" Id="R5406095d14c3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3cb9a6ce34aa1" /><Relationship Type="http://schemas.openxmlformats.org/officeDocument/2006/relationships/image" Target="/ppt/media/image5.png" Id="R533f8e33c9ed42fe" /><Relationship Type="http://schemas.openxmlformats.org/officeDocument/2006/relationships/image" Target="/ppt/media/image6.png" Id="R4413c2cca7d74ae7" /><Relationship Type="http://schemas.openxmlformats.org/officeDocument/2006/relationships/notesSlide" Target="/ppt/notesSlides/notesSlide9.xml" Id="Rbb8a75edcead43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6bdd38d2a40de" /><Relationship Type="http://schemas.openxmlformats.org/officeDocument/2006/relationships/image" Target="/ppt/media/image7.png" Id="Ra623607479b64714" /><Relationship Type="http://schemas.openxmlformats.org/officeDocument/2006/relationships/notesSlide" Target="/ppt/notesSlides/notesSlide10.xml" Id="Reeda7e2804d943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8a8aea5e14082" /><Relationship Type="http://schemas.openxmlformats.org/officeDocument/2006/relationships/image" Target="/ppt/media/image8.png" Id="Ra82aa8de98984596" /><Relationship Type="http://schemas.openxmlformats.org/officeDocument/2006/relationships/notesSlide" Target="/ppt/notesSlides/notesSlide11.xml" Id="Rf5dc34dcb2784f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d0b3c002b4de4" /><Relationship Type="http://schemas.openxmlformats.org/officeDocument/2006/relationships/notesSlide" Target="/ppt/notesSlides/notesSlide12.xml" Id="R4e818e23d0024f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99366af3547f5" /><Relationship Type="http://schemas.openxmlformats.org/officeDocument/2006/relationships/notesSlide" Target="/ppt/notesSlides/notesSlide13.xml" Id="R30bedb5452f441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36a29dbf046f4" /><Relationship Type="http://schemas.openxmlformats.org/officeDocument/2006/relationships/notesSlide" Target="/ppt/notesSlides/notesSlide14.xml" Id="Rf80121988f5f4c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2FDFE-59EE-4B38-838A-882A3581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AI-enabled battery thermal forecasting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6F2B6-7683-4ADC-BDFE-27A37451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FreeTwinEV P45B 1s4p battery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2A222-87AE-4F56-A928-56B273B2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Forecasting, risk interpretation, cooling guidance, and dashboard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b37d6b9ff4dc1"/>
          <a:stretch xmlns:a="http://schemas.openxmlformats.org/drawingml/2006/main"/>
        </p:blipFill>
        <p:spPr>
          <a:xfrm xmlns:a="http://schemas.openxmlformats.org/drawingml/2006/main">
            <a:off x="7029450" y="2381250"/>
            <a:ext cx="41338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1335A-E902-41F3-9BD4-520D867F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AAI Mini Project, KJS-CES-02</a:t>
            </a:r>
          </a:p>
        </p:txBody>
      </p:sp>
    </p:spTree>
    <p:extLst>
      <p:ext uri="{BB962C8B-B14F-4D97-AF65-F5344CB8AC3E}">
        <p14:creationId xmlns:p14="http://schemas.microsoft.com/office/powerpoint/2010/main" val="375595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0E86E-8819-4A27-A7B8-8896498C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57EB4-3BCD-481D-9BBE-CD778894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8689C-407F-415D-B12E-CA4EB5D8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6C2F3-9BFC-45AB-9905-919FE86E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27929-BF6C-4DBD-A7C7-18D6E1D5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Predict future maximum cell-surface temperature using measurements available at time 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A3457-7381-4A42-88C1-3EA94A63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FBCD2-9C90-448F-A7EB-B342880A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Use 60-second and 300-second forecast horizons.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22876-E2E1-4593-82C5-42F2B866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8511B-1FAC-4F20-A0DA-51081081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Keep validation for development and ID18 and ID19 as held-out test runs.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873F4-4886-4630-AFBE-A75A780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7AE8F-FFFD-443C-AE44-D021E366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Translate frozen forecasts into risk and cooling decision-support outputs.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7BBA5-6168-4547-A617-501DDF99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2</a:t>
            </a:r>
          </a:p>
        </p:txBody>
      </p:sp>
    </p:spTree>
    <p:extLst>
      <p:ext uri="{BB962C8B-B14F-4D97-AF65-F5344CB8AC3E}">
        <p14:creationId xmlns:p14="http://schemas.microsoft.com/office/powerpoint/2010/main" val="619000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33EB9-9439-4576-B21F-DA5249C1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Physical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581FE-7A07-4182-B37A-7E3BA5C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Dataset and provenance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814CF-3789-4F42-A8A3-CC8533CE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93A7B-AC45-4A80-B265-4F1E059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2520D-267C-48BB-B1F6-6FB029C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physical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F9620-17F7-428E-B694-12F9201F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95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22,247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1B725-99F9-4A69-B263-2E3E5CDD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28E9-33C0-471F-A23E-D954AC3E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95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585D6-D520-47EC-B544-6D7CCADF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71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sampling interval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E2DAC-20DF-4826-9BAF-31F2D351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C9522-8DBA-42A9-8437-CF1A9E1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cell temperature sensors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E70AA-1504-4135-AEBB-8B9CD51E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1AC18-CDB9-4BF4-8527-1DCAB8D2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939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The previous EV battery CSV was rejected after leakage and continuity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C5249-B404-4FA1-A1AB-150D17EB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92FA3-DEA0-4167-AA6B-9716BC1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939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FreeTwinEV provides documented physical battery-module experiments.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A0A23-7564-41D9-9942-AD8820F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BEB8B-5513-46CD-B9B0-7C5446D6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939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2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Current, voltage, SOC, coolant flow, inlet temperature, ambient temperature, and cell sensors support causal timing at 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20CB0-1F9D-4F4C-A008-D3D0FC94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3</a:t>
            </a:r>
          </a:p>
        </p:txBody>
      </p:sp>
    </p:spTree>
    <p:extLst>
      <p:ext uri="{BB962C8B-B14F-4D97-AF65-F5344CB8AC3E}">
        <p14:creationId xmlns:p14="http://schemas.microsoft.com/office/powerpoint/2010/main" val="1092736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34867-4405-455D-98DD-38842E76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Target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F3C72-C20B-45D2-A184-69F692F7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Forecasting formulation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BA7FC-ECD4-4558-91BB-54E700E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39DAF-C446-48BA-B43E-0C3A8AA2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Training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A6E8F-A790-4793-AA6F-AE1C6B15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DeltaT_h(t) = T_cell_max(t + h) - T_cell_max(t)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BE859-B248-4569-BA8A-ABB39709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Absolute reconstruction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79521-3525-44BC-879A-DADD16EB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T_future_pred = T_cell_max(t) + predicted_DeltaT_h(t)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638300" y="4629150"/>
          <a:ext xmlns:a="http://schemas.openxmlformats.org/drawingml/2006/main" cx="7715250" cy="1200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1524000"/>
                <a:gridCol w="4476750"/>
              </a:tblGrid>
              <a:tr h="4000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Horizon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Steps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60s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Operational response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300s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Strategic thermal envelope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845DC-3C73-47A8-97AF-E31D80BB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4</a:t>
            </a:r>
          </a:p>
        </p:txBody>
      </p:sp>
    </p:spTree>
    <p:extLst>
      <p:ext uri="{BB962C8B-B14F-4D97-AF65-F5344CB8AC3E}">
        <p14:creationId xmlns:p14="http://schemas.microsoft.com/office/powerpoint/2010/main" val="1521224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B0B46-7C80-4DED-859A-925B1193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Validation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C13FD-A413-4082-B79E-243AA473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Frozen split and leakage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391EA-2CA5-4FB3-9D9E-F3E98126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00100" y="1600200"/>
          <a:ext xmlns:a="http://schemas.openxmlformats.org/drawingml/2006/main" cx="10572750" cy="1676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8858250"/>
              </a:tblGrid>
              <a:tr h="4191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Runs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ID01, ID02, ID11, ID12, ID13, ID14, ID15, ID17, ID20, ID21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ID16, ID22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Held-out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ID18, ID19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38345-C928-40B0-B385-0DAD7946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96433-F342-471D-9F18-4EDA1FC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Run-level split. No row shuffle.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46EBF-22AC-4E80-8F5D-BC35F2B1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8849D-CED1-45B6-9B03-8482FFC6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StandardScaler fitted on training data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52365-6927-4D1D-8578-F95DA56A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B8D83-FD1F-46E3-AD8F-6CDC4F3F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Rolling and lag features use time t or earlier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C9C18-72AF-4B66-8D73-FD7F03E3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4107A-B8C8-4D8F-B005-9267AFF1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76850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ID18 and ID19 never inform model selection, threshold derivation, or recommendation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A31F4-1A58-4E84-A6FE-796801CD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5</a:t>
            </a:r>
          </a:p>
        </p:txBody>
      </p:sp>
    </p:spTree>
    <p:extLst>
      <p:ext uri="{BB962C8B-B14F-4D97-AF65-F5344CB8AC3E}">
        <p14:creationId xmlns:p14="http://schemas.microsoft.com/office/powerpoint/2010/main" val="1233895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249D8-BD98-4A62-8ECD-311C3670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14214-7545-4707-AAEB-DBB3449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Extended 21-feature representation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00E32-BF17-4227-811D-D24E69D4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95337-9B77-422F-A515-12A259DF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106D8-F8F8-41FC-B0DE-94BF03DC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66875"/>
            <a:ext cx="567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Electrical state: current, voltage, and SOC.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A6F07-E608-4C76-A485-7AF3C12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FF923-8B49-4F18-B019-0DB8FE20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57425"/>
            <a:ext cx="567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Cooling state: liquid flow, inlet temperature, and ambient temperature.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9190D-C8C1-4812-84BA-416CB6AD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D17A1-0CD8-476E-A66E-664811FB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567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Thermal state: current hotspot, cell spread, and plate mean.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D1D3B-52AF-4700-8E0F-FD2F399E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1421F-3C2C-4684-85B4-CD077822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38525"/>
            <a:ext cx="567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Derived physics terms: current squared, power, rolling load history, thermal velocity, and gradients.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79410695d49a4"/>
          <a:stretch xmlns:a="http://schemas.openxmlformats.org/drawingml/2006/main"/>
        </p:blipFill>
        <p:spPr>
          <a:xfrm xmlns:a="http://schemas.openxmlformats.org/drawingml/2006/main">
            <a:off x="7000875" y="1955556"/>
            <a:ext cx="3905250" cy="300403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415D1-BCD6-43CE-8387-EE47FDD0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36B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36B00"/>
                </a:solidFill>
                <a:latin typeface="Aptos"/>
                <a:ea typeface="Aptos"/>
                <a:cs typeface="Aptos"/>
              </a:rPr>
              <a:t>Ablation outlet-temperature features were not promoted into the selected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058D9-F7BA-45FE-9D57-2B1FD9CA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6</a:t>
            </a:r>
          </a:p>
        </p:txBody>
      </p:sp>
    </p:spTree>
    <p:extLst>
      <p:ext uri="{BB962C8B-B14F-4D97-AF65-F5344CB8AC3E}">
        <p14:creationId xmlns:p14="http://schemas.microsoft.com/office/powerpoint/2010/main" val="62210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8BF85-AA49-4B7A-819C-234FDABD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Validation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1355D-F406-4A12-AF14-A896B304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Model selection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C2F63-95C4-4B06-9FF6-24C8C492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1600200"/>
          <a:ext xmlns:a="http://schemas.openxmlformats.org/drawingml/2006/main" cx="10763250" cy="1352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3714750"/>
                <a:gridCol w="1905000"/>
                <a:gridCol w="2000250"/>
                <a:gridCol w="1905000"/>
              </a:tblGrid>
              <a:tr h="450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Horizon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Selected model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Validation MAE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Validation RMSE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Validation R2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60s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Extended Ridge, alpha = 1.0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0.1598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0.7228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0.7890</a:t>
                      </a:r>
                    </a:p>
                  </a:txBody>
                  <a:tcPr marL="91440" marR="91440" marT="45720" marB="45720"/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300s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Extended 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2.2582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4.5396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0.5027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0CFFA-0841-4BA2-870A-8B2A17AE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6D1BB-D6BB-4F24-833D-F7016DE4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19500"/>
            <a:ext cx="862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Tree ensembles were evaluated with grouped cross-validation.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12D7E-4C79-4B79-AAED-9DF11649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73F09-6A8B-48C6-9953-56A4164E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862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They did not beat the selected Extended linear models on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7E0B0-C974-423C-A9EE-13DFEA6C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599C0-C8B2-40AA-87EA-5C644572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24400"/>
            <a:ext cx="862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Selection occurred before held-out test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A209F-C1CA-4920-A9BD-B9A0AA59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7</a:t>
            </a:r>
          </a:p>
        </p:txBody>
      </p:sp>
    </p:spTree>
    <p:extLst>
      <p:ext uri="{BB962C8B-B14F-4D97-AF65-F5344CB8AC3E}">
        <p14:creationId xmlns:p14="http://schemas.microsoft.com/office/powerpoint/2010/main" val="2079852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C121E-C55D-4B10-94D8-38C26647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Final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35E18-AA44-4FE1-A36A-B59160EE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Held-out test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A237D-D8DB-440F-A274-634AAFE0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42950" y="1524000"/>
          <a:ext xmlns:a="http://schemas.openxmlformats.org/drawingml/2006/main" cx="10715625" cy="1352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2857500"/>
                <a:gridCol w="1666875"/>
                <a:gridCol w="1762125"/>
                <a:gridCol w="1524000"/>
                <a:gridCol w="1762125"/>
              </a:tblGrid>
              <a:tr h="4508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Horizon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Test MAE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Test RMSE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Test R2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Max AE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60s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Extended Ridge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0.2271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0.8256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0.8060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12.2504</a:t>
                      </a:r>
                    </a:p>
                  </a:txBody>
                  <a:tcPr marL="91440" marR="91440" marT="45720" marB="45720"/>
                </a:tc>
              </a:tr>
              <a:tr h="4508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300s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Extended 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1.9302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4.9649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0.5836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43.3812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34804b12c4f16"/>
          <a:stretch xmlns:a="http://schemas.openxmlformats.org/drawingml/2006/main"/>
        </p:blipFill>
        <p:spPr>
          <a:xfrm xmlns:a="http://schemas.openxmlformats.org/drawingml/2006/main">
            <a:off x="1381125" y="3381375"/>
            <a:ext cx="4381500" cy="2190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bc9e9f58f43c2"/>
          <a:stretch xmlns:a="http://schemas.openxmlformats.org/drawingml/2006/main"/>
        </p:blipFill>
        <p:spPr>
          <a:xfrm xmlns:a="http://schemas.openxmlformats.org/drawingml/2006/main">
            <a:off x="6286500" y="3563937"/>
            <a:ext cx="4381500" cy="1825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EA51C-ACB9-4115-AC78-E940C268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8</a:t>
            </a:r>
          </a:p>
        </p:txBody>
      </p:sp>
    </p:spTree>
    <p:extLst>
      <p:ext uri="{BB962C8B-B14F-4D97-AF65-F5344CB8AC3E}">
        <p14:creationId xmlns:p14="http://schemas.microsoft.com/office/powerpoint/2010/main" val="1858323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19DE8-1E03-4D35-B075-A01F7A87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Forecast stability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F8FAC-B90E-486C-92ED-C6CCA6A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Temporal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64AF0-6EBB-4EBA-9D1D-0DBD877F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f8e33c9ed42fe"/>
          <a:stretch xmlns:a="http://schemas.openxmlformats.org/drawingml/2006/main"/>
        </p:blipFill>
        <p:spPr>
          <a:xfrm xmlns:a="http://schemas.openxmlformats.org/drawingml/2006/main">
            <a:off x="838200" y="1931194"/>
            <a:ext cx="4762500" cy="2976563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3c2cca7d74ae7"/>
          <a:stretch xmlns:a="http://schemas.openxmlformats.org/drawingml/2006/main"/>
        </p:blipFill>
        <p:spPr>
          <a:xfrm xmlns:a="http://schemas.openxmlformats.org/drawingml/2006/main">
            <a:off x="6191250" y="1990725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95561-FDEC-4E4B-8D36-67D3D075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60s is tighter. 300s has useful signal but larger local error spikes.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21610-5C97-48B3-AB90-53BF1472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9</a:t>
            </a:r>
          </a:p>
        </p:txBody>
      </p:sp>
    </p:spTree>
    <p:extLst>
      <p:ext uri="{BB962C8B-B14F-4D97-AF65-F5344CB8AC3E}">
        <p14:creationId xmlns:p14="http://schemas.microsoft.com/office/powerpoint/2010/main" val="1449750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EC487-0CD0-4DFB-A7B9-0F9A32B6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79DE3-340A-4AB7-B342-0555443B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Thermal-risk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21FC3-9373-4D3D-92EF-F2A92960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FFD5A-FF6F-4D2C-ACCF-9D801D97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147B-5DFA-4ABE-9968-18BAA826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Critical uses the documented 70 deg C cell-surface cutoff.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78209-C209-4B2A-A220-81CF8844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039DE-FB3B-49A2-BF3B-386279CC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3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P75, P90, and P99 bands come from validation forecasts only.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D37FF-335A-4476-8D81-6F751872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5A903-31D6-4FF0-800F-03AE2EDB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Secondary signals include predicted DeltaT, recent trend, cell spread, and sustained elevated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91C06-C8A1-47DE-BA9C-4AF4260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0A02A-7DB4-449F-A4E3-F7C22975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0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Held-out ID19 produced 9 critical rows at 60s after rules were frozen.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3607479b64714"/>
          <a:stretch xmlns:a="http://schemas.openxmlformats.org/drawingml/2006/main"/>
        </p:blipFill>
        <p:spPr>
          <a:xfrm xmlns:a="http://schemas.openxmlformats.org/drawingml/2006/main">
            <a:off x="6572250" y="1985963"/>
            <a:ext cx="4333875" cy="26003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26B3C-FEB2-4F03-9458-13B31980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6B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36B00"/>
                </a:solidFill>
                <a:latin typeface="Aptos"/>
                <a:ea typeface="Aptos"/>
                <a:cs typeface="Aptos"/>
              </a:rPr>
              <a:t>Risk categories are decision-support indicators, not certified safety labels.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4985D-226C-42C2-BDBC-431493AC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10</a:t>
            </a:r>
          </a:p>
        </p:txBody>
      </p:sp>
    </p:spTree>
    <p:extLst>
      <p:ext uri="{BB962C8B-B14F-4D97-AF65-F5344CB8AC3E}">
        <p14:creationId xmlns:p14="http://schemas.microsoft.com/office/powerpoint/2010/main" val="10827276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C4197-B8AC-4CEC-95D0-D1CCA0F1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2D16B-8D57-4327-9EC5-9456BD9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Cooling recommendation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00AB8-FCAB-42A3-A10E-FCFCD6E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504950"/>
          <a:ext xmlns:a="http://schemas.openxmlformats.org/drawingml/2006/main" cx="6048375" cy="2047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28875"/>
                <a:gridCol w="3619500"/>
              </a:tblGrid>
              <a:tr h="40957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Recommendation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MAINTAIN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Normal risk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INCREASE_COOLING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Elevated, active load, low flow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HIGH_COOLING_ATTENTION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High risk or unsupported Elevated state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CRITICAL_PROTECTIVE_ACTION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Critical risk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096125" y="1657350"/>
          <a:ext xmlns:a="http://schemas.openxmlformats.org/drawingml/2006/main" cx="4000500" cy="1295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47750"/>
                <a:gridCol w="1381125"/>
                <a:gridCol w="1571625"/>
              </a:tblGrid>
              <a:tr h="431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Horizon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Flow Spearman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Inlet-temp Spearman</a:t>
                      </a:r>
                    </a:p>
                  </a:txBody>
                  <a:tcPr marL="91440" marR="91440" marT="45720" marB="45720">
                    <a:solidFill>
                      <a:srgbClr val="182B3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60s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-0.4325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0.4195</a:t>
                      </a:r>
                    </a:p>
                  </a:txBody>
                  <a:tcPr marL="91440" marR="91440" marT="45720" marB="45720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300s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-0.4865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B3A"/>
                          </a:solidFill>
                          <a:latin typeface="Aptos"/>
                          <a:ea typeface="Aptos"/>
                          <a:cs typeface="Aptos"/>
                        </a:rPr>
                        <a:t>0.5451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aa8de98984596"/>
          <a:stretch xmlns:a="http://schemas.openxmlformats.org/drawingml/2006/main"/>
        </p:blipFill>
        <p:spPr>
          <a:xfrm xmlns:a="http://schemas.openxmlformats.org/drawingml/2006/main">
            <a:off x="3733800" y="3857625"/>
            <a:ext cx="434340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BA406-BD71-4B3C-9B4E-343E285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36B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36B00"/>
                </a:solidFill>
                <a:latin typeface="Aptos"/>
                <a:ea typeface="Aptos"/>
                <a:cs typeface="Aptos"/>
              </a:rPr>
              <a:t>Associations are observational and confounded by operating regime.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1726C-C15E-4CE8-A655-DED4670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11</a:t>
            </a:r>
          </a:p>
        </p:txBody>
      </p:sp>
    </p:spTree>
    <p:extLst>
      <p:ext uri="{BB962C8B-B14F-4D97-AF65-F5344CB8AC3E}">
        <p14:creationId xmlns:p14="http://schemas.microsoft.com/office/powerpoint/2010/main" val="6429041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23AFC-0B11-4F57-9FCC-702C536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Interface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5EBF3-0CE2-41E6-B93A-409A1509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45BDF-D983-4A13-8434-6F90CEA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E9FE5-A9EF-41A5-8994-8D567B3F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6AD10-60B2-4FBA-87D3-5B65155D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929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Streamlit and Plotly dashboard over persisted Phase 6-9 artifacts.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F7062-BE0D-433E-90DF-01C4407E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252C2-C6B5-41EC-B391-CDF7E146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929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Filters by run, horizon, time, risk category, and recommendation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B20E6-3918-417F-B2C8-6C8C3E72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8E9B0-5E4C-4162-BEF8-93D5C85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29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Shows forecast trajectories, risk timelines, recommendation transitions, and final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66280-0E67-4555-87B0-8C8804CD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EF1BA-B39E-4101-8546-DCA9EEE9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929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Does not train models, tune thresholds, or generate new predictions.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FE537-3921-4F21-A38F-8C7164C9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12</a:t>
            </a:r>
          </a:p>
        </p:txBody>
      </p:sp>
    </p:spTree>
    <p:extLst>
      <p:ext uri="{BB962C8B-B14F-4D97-AF65-F5344CB8AC3E}">
        <p14:creationId xmlns:p14="http://schemas.microsoft.com/office/powerpoint/2010/main" val="10834719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782EA-B00E-4522-83FA-E94522F5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C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C7C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B865D-C95A-46DA-B318-2EA6BC43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B3A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AADE2-65A2-4F92-8CE3-9557D8DB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A42FA-D5A4-4006-A03A-BFE3BB29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54738-B684-44ED-B86A-CDBD233A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76400"/>
            <a:ext cx="958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Fourteen physical runs from one laboratory module setup.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3C7A0-6237-435B-B45F-F9054CA4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1E735-7105-4607-8FE6-16D2287B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958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Only ID18 and ID19 serve as held-out stress-test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E8AD6-7DA0-43D4-A5D4-2AF1656C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9D498-3460-4AF6-B51F-28B6C2DA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958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The 300s model has materially larger RMSE and tail errors than the 60s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A0A07-AF78-4310-A8D4-3065B2B8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C6274-FE7D-4E55-86A7-52E3A8D3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8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P75/P90/P99 risk bands are descriptive validation percentiles.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C58DE-9769-4CAA-A907-B730A203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7C"/>
          </a:solidFill>
          <a:ln xmlns:a="http://schemas.openxmlformats.org/drawingml/2006/main" w="0">
            <a:solidFill>
              <a:srgbClr val="147C7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FFBCE-F03B-41AD-B328-5E1A0C34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958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B3A"/>
                </a:solidFill>
                <a:latin typeface="Aptos"/>
                <a:ea typeface="Aptos"/>
                <a:cs typeface="Aptos"/>
              </a:rPr>
              <a:t>Cooling guidance is not causal proof and not a certified controller.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9634F-2C1B-47C6-87EA-FE70E00B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11 final presentation | 13</a:t>
            </a:r>
          </a:p>
        </p:txBody>
      </p:sp>
    </p:spTree>
    <p:extLst>
      <p:ext uri="{BB962C8B-B14F-4D97-AF65-F5344CB8AC3E}">
        <p14:creationId xmlns:p14="http://schemas.microsoft.com/office/powerpoint/2010/main" val="10340154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5D4BC-9C86-4898-8B3F-071FE60C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51953-F0A5-4F14-AA1C-D42AB8A7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project delivers a reproducible thermal forecasting and decision-support prototype with protected held-out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6E011-4225-4F75-9FBA-3D6BC377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DE2D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DE2D1"/>
                </a:solidFill>
                <a:latin typeface="Aptos"/>
                <a:ea typeface="Aptos"/>
                <a:cs typeface="Aptos"/>
              </a:rPr>
              <a:t>0.2271 deg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18CE8-D724-427D-80CA-6794D5B5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held-out 60s 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10E07-6E56-47DB-A56D-5416DA19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DE2D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DE2D1"/>
                </a:solidFill>
                <a:latin typeface="Aptos"/>
                <a:ea typeface="Aptos"/>
                <a:cs typeface="Aptos"/>
              </a:rPr>
              <a:t>0.8060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00BB8-977E-4118-A367-AB9C8116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held-out 60s R2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74F1C-F766-4874-AD35-3E039BE3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4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C47A"/>
                </a:solidFill>
                <a:latin typeface="Aptos"/>
                <a:ea typeface="Aptos"/>
                <a:cs typeface="Aptos"/>
              </a:rPr>
              <a:t>1.9302 deg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DB3C3-7753-4EB5-90A0-C078E600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held-out 300s 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F4D80-8852-443E-9DEE-C4A5D15D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framing: validated academic decision support, not a certified EV battery safety controller.</a:t>
            </a:r>
          </a:p>
        </p:txBody>
      </p:sp>
    </p:spTree>
    <p:extLst>
      <p:ext uri="{BB962C8B-B14F-4D97-AF65-F5344CB8AC3E}">
        <p14:creationId xmlns:p14="http://schemas.microsoft.com/office/powerpoint/2010/main" val="924670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2026-10-04T19:02:14.7280000Z</dcterms:created>
  <dcterms:modified xsi:type="dcterms:W3CDTF">2026-10-04T19:02:14.7280000Z</dcterms:modified>
</coreProperties>
</file>